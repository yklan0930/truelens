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91440" cy="6858000"/>
          </a:xfrm>
          <a:prstGeom prst="rect">
            <a:avLst/>
          </a:prstGeom>
          <a:solidFill>
            <a:srgbClr val="5BC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595360" y="822960"/>
            <a:ext cx="3291840" cy="3291840"/>
          </a:xfrm>
          <a:prstGeom prst="roundRect">
            <a:avLst>
              <a:gd name="adj" fmla="val 11111"/>
            </a:avLst>
          </a:prstGeom>
          <a:solidFill>
            <a:srgbClr val="133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0" y="3566160"/>
            <a:ext cx="2377440" cy="2377440"/>
          </a:xfrm>
          <a:prstGeom prst="roundRect">
            <a:avLst>
              <a:gd name="adj" fmla="val 15384"/>
            </a:avLst>
          </a:prstGeom>
          <a:solidFill>
            <a:srgbClr val="10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5BC0F8"/>
                </a:solidFill>
                <a:latin typeface="Microsoft YaHei"/>
              </a:rPr>
              <a:t>AI 内容真伪检测平台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 i="0">
                <a:solidFill>
                  <a:srgbClr val="FFFFFF"/>
                </a:solidFill>
                <a:latin typeface="Microsoft YaHei"/>
              </a:rPr>
              <a:t>TrueLens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CE9F7"/>
                </a:solidFill>
                <a:latin typeface="Microsoft YaHei"/>
              </a:rPr>
              <a:t>发展回顾与战略展望 · 董事会汇报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977639"/>
            <a:ext cx="2011680" cy="54864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A9C2DE"/>
                </a:solidFill>
                <a:latin typeface="Microsoft YaHei"/>
              </a:rPr>
              <a:t>从「检测假图」到「内容真实性核验器」的演进之路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6692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8FB0D4"/>
                </a:solidFill>
                <a:latin typeface="Microsoft YaHei"/>
              </a:rPr>
              <a:t>2026 年 7 月   |   合伙人 Michael &amp; 小毕   |   当前版本 v0.6.9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7000" b="1" i="0">
                <a:solidFill>
                  <a:srgbClr val="1C4E86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执行摘要与议程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C0F8"/>
                </a:solidFill>
                <a:latin typeface="Microsoft YaHei"/>
              </a:rPr>
              <a:t>Executive Summary &amp;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92040"/>
            <a:ext cx="1828800" cy="4572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汇报议程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709928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746504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执行摘要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148840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定位、关键指标与核心判断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9191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79191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19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2825496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发展历程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227832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从双模型试错到 C2PA 验证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758183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758183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" y="3867911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904487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技术演进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306823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检测引擎与视频路径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3717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837176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19" y="4946904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4983480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产品与商业模式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385816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credits 计费与支付分层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60020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09360" y="1600200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1709928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1746504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进展与机遇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2148840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上线状态、市场与监管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679191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09360" y="2679191"/>
            <a:ext cx="109728" cy="91440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788920"/>
            <a:ext cx="9144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378ADD"/>
                </a:solidFill>
                <a:latin typeface="Microsoft YaHe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825496"/>
            <a:ext cx="3840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1B2838"/>
                </a:solidFill>
                <a:latin typeface="Microsoft YaHei"/>
              </a:rPr>
              <a:t>挑战·未来·行动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3227832"/>
            <a:ext cx="38404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B7E"/>
                </a:solidFill>
                <a:latin typeface="Microsoft YaHei"/>
              </a:rPr>
              <a:t>风险、方向、路线图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执行摘要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5FA5"/>
                </a:solidFill>
                <a:latin typeface="Microsoft YaHei"/>
              </a:rPr>
              <a:t>一句话定位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828800"/>
            <a:ext cx="10972800" cy="1005840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1828800"/>
            <a:ext cx="109728" cy="1005840"/>
          </a:xfrm>
          <a:prstGeom prst="roundRect">
            <a:avLst>
              <a:gd name="adj" fmla="val 33333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2000"/>
              </a:lnSpc>
            </a:pPr>
            <a:r>
              <a:rPr sz="1450" b="0" i="0">
                <a:solidFill>
                  <a:srgbClr val="1B2838"/>
                </a:solidFill>
                <a:latin typeface="Microsoft YaHei"/>
              </a:rPr>
              <a:t>TrueLens 是一个已上线（v0.6.8）的 AI 图片/视频真伪检测平台，正从「AI 假图检测器」升级为「内容真实性核验器」——以 Sightengine 检测 + C2PA 内容凭证验证双支柱，面向合规即服务与垂直摄影防伪两条可防守赛道。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2615184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154680"/>
            <a:ext cx="2615184" cy="109728"/>
          </a:xfrm>
          <a:prstGeom prst="roundRect">
            <a:avLst>
              <a:gd name="adj" fmla="val 33333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261518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85FA5"/>
                </a:solidFill>
                <a:latin typeface="Microsoft YaHei"/>
              </a:rPr>
              <a:t>v0.6.9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26151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B2838"/>
                </a:solidFill>
                <a:latin typeface="Microsoft YaHei"/>
              </a:rPr>
              <a:t>产品版本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2615184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B7E"/>
                </a:solidFill>
                <a:latin typeface="Microsoft YaHei"/>
              </a:rPr>
              <a:t>已上线 v0.6.8 + C2PA 原型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56432" y="3154680"/>
            <a:ext cx="2615184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56432" y="3154680"/>
            <a:ext cx="2615184" cy="109728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3566160"/>
            <a:ext cx="261518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378ADD"/>
                </a:solidFill>
                <a:latin typeface="Microsoft YaHe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4663440"/>
            <a:ext cx="26151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B2838"/>
                </a:solidFill>
                <a:latin typeface="Microsoft YaHei"/>
              </a:rPr>
              <a:t>17 图 QA 准确率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5029200"/>
            <a:ext cx="2615184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B7E"/>
                </a:solidFill>
                <a:latin typeface="Microsoft YaHei"/>
              </a:rPr>
              <a:t>AI / Real F1 双双 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154680"/>
            <a:ext cx="2615184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4" y="3154680"/>
            <a:ext cx="2615184" cy="109728"/>
          </a:xfrm>
          <a:prstGeom prst="roundRect">
            <a:avLst>
              <a:gd name="adj" fmla="val 33333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72784" y="3566160"/>
            <a:ext cx="261518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1E8E5A"/>
                </a:solidFill>
                <a:latin typeface="Microsoft YaHei"/>
              </a:rPr>
              <a:t>$0.6–1.6B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663440"/>
            <a:ext cx="26151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B2838"/>
                </a:solidFill>
                <a:latin typeface="Microsoft YaHei"/>
              </a:rPr>
              <a:t>2025 全球市场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5029200"/>
            <a:ext cx="2615184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B7E"/>
                </a:solidFill>
                <a:latin typeface="Microsoft YaHei"/>
              </a:rPr>
              <a:t>CAGR 14–35%，2030s 冲 $10B+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89136" y="3154680"/>
            <a:ext cx="2615184" cy="233172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9136" y="3154680"/>
            <a:ext cx="2615184" cy="109728"/>
          </a:xfrm>
          <a:prstGeom prst="roundRect">
            <a:avLst>
              <a:gd name="adj" fmla="val 33333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89136" y="3566160"/>
            <a:ext cx="2615184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C77B22"/>
                </a:solidFill>
                <a:latin typeface="Microsoft YaHei"/>
              </a:rPr>
              <a:t>~98%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4663440"/>
            <a:ext cx="2615184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1B2838"/>
                </a:solidFill>
                <a:latin typeface="Microsoft YaHei"/>
              </a:rPr>
              <a:t>测算毛利率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9136" y="5029200"/>
            <a:ext cx="2615184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B6B7E"/>
                </a:solidFill>
                <a:latin typeface="Microsoft YaHei"/>
              </a:rPr>
              <a:t>500 付费用户即打满成本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6B7E"/>
                </a:solidFill>
                <a:latin typeface="Microsoft YaHei"/>
              </a:rPr>
              <a:t>关键判断：休闲 C 端「好玩」不会成为付费基础；真实且高增长的市场在 B2B 反欺诈与监管合规，而 2025–2026 全球监管集中落地正打开需求窗口。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7000" b="1" i="0">
                <a:solidFill>
                  <a:srgbClr val="1C4E86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发展历程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C0F8"/>
                </a:solidFill>
                <a:latin typeface="Microsoft YaHei"/>
              </a:rPr>
              <a:t>From trial-and-error to proven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92040"/>
            <a:ext cx="1828800" cy="4572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发展历程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246120"/>
            <a:ext cx="10515600" cy="0"/>
          </a:xfrm>
          <a:prstGeom prst="bentConnector3">
            <a:avLst/>
          </a:prstGeom>
          <a:ln w="25400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-137160" y="13716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-137160" y="1371600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27432" y="1426464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v0.1–0.5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7432" y="1847088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立项与双模型探索：ViT 双模型加权，真实照片被严重误判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22960" y="2971800"/>
            <a:ext cx="0" cy="192024"/>
          </a:xfrm>
          <a:prstGeom prst="bentConnector3">
            <a:avLst/>
          </a:prstGeom>
          <a:ln w="12700">
            <a:solidFill>
              <a:srgbClr val="185F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4378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65959" y="3520439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65959" y="3520439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7" y="3575303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7" y="3995927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真实安全策略：仅显式水印判 AI；真实照零误判，但 AI 召回≈0%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926079" y="3328415"/>
            <a:ext cx="0" cy="192024"/>
          </a:xfrm>
          <a:prstGeom prst="bentConnector3">
            <a:avLst/>
          </a:prstGeom>
          <a:ln w="12700">
            <a:solidFill>
              <a:srgbClr val="378A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4690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69080" y="13716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069080" y="1371600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78808" y="1426464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v0.6.6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8808" y="1847088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配额月度化：credits 替代每日限额，奠定付费基础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029200" y="2971800"/>
            <a:ext cx="0" cy="192024"/>
          </a:xfrm>
          <a:prstGeom prst="bentConnector3">
            <a:avLst/>
          </a:prstGeom>
          <a:ln w="12700">
            <a:solidFill>
              <a:srgbClr val="1E8E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05002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3520439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3520439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575303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v0.6.7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3995927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修复「AI 味」百分比插值缺失 + PDF 分页优化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132320" y="3328415"/>
            <a:ext cx="0" cy="192024"/>
          </a:xfrm>
          <a:prstGeom prst="bentConnector3">
            <a:avLst/>
          </a:prstGeom>
          <a:ln w="12700">
            <a:solidFill>
              <a:srgbClr val="C77B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15314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19" y="1371600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275319" y="1371600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7" y="1426464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v0.6.8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7" y="1847088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Layer A 支付基建上线：credits 余额 + 模拟收银台 + 套餐页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9235440" y="2971800"/>
            <a:ext cx="0" cy="192024"/>
          </a:xfrm>
          <a:prstGeom prst="bentConnector3">
            <a:avLst/>
          </a:prstGeom>
          <a:ln w="12700">
            <a:solidFill>
              <a:srgbClr val="C0392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1256264" y="316382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5BC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378440" y="3520439"/>
            <a:ext cx="19202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78440" y="3520439"/>
            <a:ext cx="1920240" cy="384048"/>
          </a:xfrm>
          <a:prstGeom prst="roundRect">
            <a:avLst>
              <a:gd name="adj" fmla="val 14285"/>
            </a:avLst>
          </a:prstGeom>
          <a:solidFill>
            <a:srgbClr val="5BC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88167" y="3575303"/>
            <a:ext cx="17373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v0.6.9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8167" y="3995927"/>
            <a:ext cx="173736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1B2838"/>
                </a:solidFill>
                <a:latin typeface="Microsoft YaHei"/>
              </a:rPr>
              <a:t>C2PA 内容凭证原型：从「检测假」迈向「验证真」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1338560" y="3328415"/>
            <a:ext cx="0" cy="192024"/>
          </a:xfrm>
          <a:prstGeom prst="bentConnector3">
            <a:avLst/>
          </a:prstGeom>
          <a:ln w="12700">
            <a:solidFill>
              <a:srgbClr val="5BC0F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5B6B7E"/>
                </a:solidFill>
                <a:latin typeface="Microsoft YaHei"/>
              </a:rPr>
              <a:t>节奏：从「双模型误判」的试错，到 Sightengine 主引擎 100% 准确，再到 C2PA 验证把范式从「检测假」推向「证实真」。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7000" b="1" i="0">
                <a:solidFill>
                  <a:srgbClr val="1C4E86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技术与产品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C0F8"/>
                </a:solidFill>
                <a:latin typeface="Microsoft YaHei"/>
              </a:rPr>
              <a:t>Technology &amp; Product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92040"/>
            <a:ext cx="1828800" cy="4572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技术演进：检测引擎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2697480" cy="420624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709928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C0F8"/>
                </a:solidFill>
                <a:latin typeface="Microsoft YaHei"/>
              </a:rPr>
              <a:t>阶段 1 · 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039112"/>
            <a:ext cx="2423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双 HF 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651760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Ateeqq + dima806 加权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63062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6306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Ateeqq 近二值，对人脸/真实照误判 ~100%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27436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74364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dima806 免费端点已死(400)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585667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85667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结论：双模型交叉验证失效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1600200"/>
            <a:ext cx="2697480" cy="420624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502152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66744" y="1709928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BC0F8"/>
                </a:solidFill>
                <a:latin typeface="Microsoft YaHei"/>
              </a:rPr>
              <a:t>阶段 2 · 妥协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2039112"/>
            <a:ext cx="2423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真实安全策略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5032" y="2651760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265176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仅显式 AI 水印才判 likely_ai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2963062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9352" y="296306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其余诚实 likely_uncertain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327436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59352" y="3274364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Real F1=100%（零冤枉真人）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5032" y="3585667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9352" y="3585667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但 AI 召回≈0%（模型瓶颈）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4224" y="1600200"/>
            <a:ext cx="2697480" cy="420624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64224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1709928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阶段 3 · 突破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816" y="2039112"/>
            <a:ext cx="2423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Sightengine genai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47104" y="2651760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265176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图片/视频共用账户，作为主引擎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2963062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21424" y="296306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≥70→AI / ≤30→真实 / 其余弃权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47104" y="327436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21424" y="3274364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17 图实测 100% 准、零误判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3585667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21424" y="3585667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OCR 水印并行增强（中英文）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26296" y="1600200"/>
            <a:ext cx="2697480" cy="4206240"/>
          </a:xfrm>
          <a:prstGeom prst="roundRect">
            <a:avLst>
              <a:gd name="adj" fmla="val 4067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226296" y="1600200"/>
            <a:ext cx="2697480" cy="868680"/>
          </a:xfrm>
          <a:prstGeom prst="roundRect">
            <a:avLst>
              <a:gd name="adj" fmla="val 8421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90888" y="1709928"/>
            <a:ext cx="2423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阶段 4 · 范式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90888" y="2039112"/>
            <a:ext cx="24231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C2PA 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9176" y="2651760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83496" y="265176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新增内容凭证验证端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9176" y="2963062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83496" y="2963062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双支柱：检测假 + 证实真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9176" y="327436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83496" y="3274364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离线可验证、开源库可落地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09176" y="3585667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83496" y="3585667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已 build-passing（v0.6.9）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5989320"/>
            <a:ext cx="10972800" cy="640080"/>
          </a:xfrm>
          <a:prstGeom prst="roundRect">
            <a:avLst>
              <a:gd name="adj" fmla="val 11428"/>
            </a:avLst>
          </a:prstGeom>
          <a:solidFill>
            <a:srgbClr val="EAF2FB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6053328"/>
            <a:ext cx="106984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B2838"/>
                </a:solidFill>
                <a:latin typeface="Microsoft YaHei"/>
              </a:rPr>
              <a:t>视频路径：浏览器抽 8 帧 → 逐帧 Sightengine 图检测（串行 +1.1s 间隔 + 429 重试），免费层即可覆盖约 95% AI 生成视频。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产品与商业模式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670048" cy="3200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21408"/>
            <a:ext cx="267004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838"/>
                </a:solidFill>
                <a:latin typeface="Microsoft YaHei"/>
              </a:rPr>
              <a:t>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67004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85FA5"/>
                </a:solidFill>
                <a:latin typeface="Microsoft YaHei"/>
              </a:rPr>
              <a:t>¥0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267004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3 次/月 高精度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05840" y="3840480"/>
            <a:ext cx="932688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950208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950208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基础引擎兜底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95267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95267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分享/PDF 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40326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40326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适合尝鲜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38144" y="1554480"/>
            <a:ext cx="2670048" cy="3200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25400">
            <a:solidFill>
              <a:srgbClr val="378A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38144" y="1554480"/>
            <a:ext cx="2670048" cy="457200"/>
          </a:xfrm>
          <a:prstGeom prst="roundRect">
            <a:avLst>
              <a:gd name="adj" fmla="val 16000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1609344"/>
            <a:ext cx="26700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推荐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2121408"/>
            <a:ext cx="267004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5FA5"/>
                </a:solidFill>
                <a:latin typeface="Microsoft YaHei"/>
              </a:rPr>
              <a:t>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2697480"/>
            <a:ext cx="267004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85FA5"/>
                </a:solidFill>
                <a:latin typeface="Microsoft YaHei"/>
              </a:rPr>
              <a:t>¥39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8144" y="3429000"/>
            <a:ext cx="267004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500 credits/月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38528" y="3840480"/>
            <a:ext cx="1865376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712463" y="3950208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86783" y="3950208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图片 1 / 视频 8 credit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2463" y="4195267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86783" y="4195267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详细证据报告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3" y="4440326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783" y="4440326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优先级支持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1554480"/>
            <a:ext cx="2670048" cy="3200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2121408"/>
            <a:ext cx="267004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838"/>
                </a:solidFill>
                <a:latin typeface="Microsoft YaHei"/>
              </a:rPr>
              <a:t>Business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2697480"/>
            <a:ext cx="267004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85FA5"/>
                </a:solidFill>
                <a:latin typeface="Microsoft YaHei"/>
              </a:rPr>
              <a:t>¥199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36208" y="3429000"/>
            <a:ext cx="267004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5000 credits/月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938528" y="3840480"/>
            <a:ext cx="4663440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10528" y="3950208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4848" y="3950208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高用量团队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195267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84848" y="4195267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API 接入预留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0528" y="4440326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4440326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定制支持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34272" y="1554480"/>
            <a:ext cx="2670048" cy="3200400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34272" y="2121408"/>
            <a:ext cx="2670048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B2838"/>
                </a:solidFill>
                <a:latin typeface="Microsoft YaHei"/>
              </a:rPr>
              <a:t>加油包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4272" y="2697480"/>
            <a:ext cx="267004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2700" b="1" i="0">
                <a:solidFill>
                  <a:srgbClr val="185FA5"/>
                </a:solidFill>
                <a:latin typeface="Microsoft YaHei"/>
              </a:rPr>
              <a:t>¥19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3429000"/>
            <a:ext cx="267004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200 credits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938528" y="3840480"/>
            <a:ext cx="7461504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308592" y="3950208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82912" y="3950208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随用随充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08592" y="4195267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82912" y="4195267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不绑定月度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08592" y="4440326"/>
            <a:ext cx="219456" cy="23774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1" i="0">
                <a:solidFill>
                  <a:srgbClr val="378ADD"/>
                </a:solidFill>
                <a:latin typeface="Microsoft YaHe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582912" y="4440326"/>
            <a:ext cx="18470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80" b="0" i="0">
                <a:solidFill>
                  <a:srgbClr val="1B2838"/>
                </a:solidFill>
                <a:latin typeface="Microsoft YaHei"/>
              </a:rPr>
              <a:t>成本可控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0080" y="4983480"/>
            <a:ext cx="10972800" cy="1508760"/>
          </a:xfrm>
          <a:prstGeom prst="roundRect">
            <a:avLst>
              <a:gd name="adj" fmla="val 6060"/>
            </a:avLst>
          </a:prstGeom>
          <a:solidFill>
            <a:srgbClr val="EAF2FB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07492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85FA5"/>
                </a:solidFill>
                <a:latin typeface="Microsoft YaHei"/>
              </a:rPr>
              <a:t>支付与计费架构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5486400"/>
            <a:ext cx="219456" cy="2590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8E5A"/>
                </a:solidFill>
                <a:latin typeface="Microsoft YaHei"/>
              </a:rPr>
              <a:t>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" y="5486400"/>
            <a:ext cx="1042415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B2838"/>
                </a:solidFill>
                <a:latin typeface="Microsoft YaHei"/>
              </a:rPr>
              <a:t>Layer A 已完成：credits 余额 + 原子扣减 + 全局月度 ops 预算闸 + 模拟收银台 + 后台充值 + /pricing 套餐页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" y="5766816"/>
            <a:ext cx="219456" cy="2590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8E5A"/>
                </a:solidFill>
                <a:latin typeface="Microsoft YaHei"/>
              </a:rPr>
              <a:t>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5766816"/>
            <a:ext cx="1042415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B2838"/>
                </a:solidFill>
                <a:latin typeface="Microsoft YaHei"/>
              </a:rPr>
              <a:t>Layer B 待接：微信/支付宝真实收单（需企业商户号 + truelens.top ICP 备案）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6047232"/>
            <a:ext cx="219456" cy="25907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8E5A"/>
                </a:solidFill>
                <a:latin typeface="Microsoft YaHei"/>
              </a:rPr>
              <a:t>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3000" y="6047232"/>
            <a:ext cx="10424159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B2838"/>
                </a:solidFill>
                <a:latin typeface="Microsoft YaHei"/>
              </a:rPr>
              <a:t>盈亏平衡约 15–20 付费用户；毛利测算约 98%（Starter $29≈¥210 含 1 万 ops）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7000" b="1" i="0">
                <a:solidFill>
                  <a:srgbClr val="1C4E86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进展 · 机遇 · 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C0F8"/>
                </a:solidFill>
                <a:latin typeface="Microsoft YaHei"/>
              </a:rPr>
              <a:t>Status, Market &amp; Challenges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92040"/>
            <a:ext cx="1828800" cy="4572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CURRENT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当前进展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5544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62763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已达成 /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28600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已上线 v0.6.8（页脚版本号 + git SHA 可验证部署）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7208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67208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17 图 QA：准确率 100%，AI / Real F1 双双 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05816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5816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市场调研完成（规模 / 融资 / 监管 / 诈骗损失 / 付费意愿）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44424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44424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临港 OPC 调研完成（15% 税惠 + AI 补贴 + 跨境金融）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3032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8303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C2PA 原型代码 build-passing（v0.6.9，待 push）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1640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1640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商业模式定位升级方案已论证（检测假 → 验证真）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1554480"/>
            <a:ext cx="5394960" cy="448056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15544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627632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进行中 / 待办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28600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7B22"/>
                </a:solidFill>
                <a:latin typeface="Microsoft YaHei"/>
              </a:rPr>
              <a:t>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28600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git push v0.6.9 触发 Vercel 部署 C2PA 原型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67208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7B22"/>
                </a:solidFill>
                <a:latin typeface="Microsoft YaHei"/>
              </a:rPr>
              <a:t>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267208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Layer B：接入微信/支付宝（商户号 + ICP 备案）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05816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7B22"/>
                </a:solidFill>
                <a:latin typeface="Microsoft YaHei"/>
              </a:rPr>
              <a:t>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05816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摄影 GTM：比赛防伪落地页 + 白皮书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44424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7B22"/>
                </a:solidFill>
                <a:latin typeface="Microsoft YaHei"/>
              </a:rPr>
              <a:t>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344424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临港 OPC 政策认定咨询（税惠 + 补贴申领）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83032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77B22"/>
                </a:solidFill>
                <a:latin typeface="Microsoft YaHei"/>
              </a:rPr>
              <a:t>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3830320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C2PA 验证端强化 → 合规即服务 API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MARKET &amp; REGULATION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市场与监管机遇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51206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85FA5"/>
                </a:solidFill>
                <a:latin typeface="Microsoft YaHei"/>
              </a:rPr>
              <a:t>钱在 B2B 反欺诈与监管合规，不在个人「好玩」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219456" cy="28574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市场真实且高增长：2025 全球 $0.6–1.6B，CAGR 14–35%，2030 年代初冲 $10B+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22576"/>
            <a:ext cx="219456" cy="28574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22576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机构真金白银背书：Reality Defender 融资 $52.4M、GetReal $17.5M（Hany Farid / In-Q-Tel / Cisco）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79192"/>
            <a:ext cx="219456" cy="28574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79192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范式转移：生成模型持续进步，「检测假」必输；「证明真」(C2PA) 在源头确权是 2026 主潮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35808"/>
            <a:ext cx="219456" cy="28574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035808"/>
            <a:ext cx="49377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休闲 C 端好奇不会成为付费基础——小 OPC 应避开通用企业反欺诈红海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600200"/>
            <a:ext cx="548640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1600200"/>
            <a:ext cx="109728" cy="932688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170992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🇨🇳 中国标识办法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10312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《人工智能生成合成内容标识办法》+ 强制国标 GB45438-2025，已于 2025-09-01 施行（显式+隐式双标识、全链条责任）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97480"/>
            <a:ext cx="548640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2697480"/>
            <a:ext cx="109728" cy="932688"/>
          </a:xfrm>
          <a:prstGeom prst="roundRect">
            <a:avLst>
              <a:gd name="adj" fmla="val 33333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280720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🇪🇺 EU AI 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20040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第 50 条 2026-08 生效，点名 C2PA 为满足披露的技术机制——出海企业合规刚需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794760"/>
            <a:ext cx="548640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26480" y="3794760"/>
            <a:ext cx="109728" cy="932688"/>
          </a:xfrm>
          <a:prstGeom prst="roundRect">
            <a:avLst>
              <a:gd name="adj" fmla="val 33333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90448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🇺🇸 加州 SB 942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29768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2026-01-01 生效，要求合成内容提供披露工具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892040"/>
            <a:ext cx="5486400" cy="932688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26480" y="4892040"/>
            <a:ext cx="109728" cy="932688"/>
          </a:xfrm>
          <a:prstGeom prst="roundRect">
            <a:avLst>
              <a:gd name="adj" fmla="val 33333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5001768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监管 = 加速器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5394960"/>
            <a:ext cx="50292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2025-09 → 2026-08 是 B2B 合规需求窗口，TrueLens 可吃 deadline 红利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挑战与风险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0020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67335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模型依赖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20370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20370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Sightengine 为外币(USD)支出，需持续跟随生成器迭代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49671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49671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自研对冲成本高，短期不替换主力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160020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67335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支付 Layer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220370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18888" y="220370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需微信/支付宝企业商户号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249671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249671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需 truelens.top ICP 备案，规模化或需 EDI 许可证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60020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19" y="160020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1" y="167335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C2PA 工程坑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20370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220370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npm 安装门禁拦掉原生二进制下载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49671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8" y="249671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二进制来自 GitHub，中国网络可能拉不动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8404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384048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391363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资质门槛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44398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" y="444398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司法鉴定/法院采信报告需许可+CNAS+≥3 鉴定人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473699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473699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小 OPC 不应争做——走「证明真」绕开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38404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43400" y="384048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391363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竞争壁垒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444398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18888" y="444398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Reality Defender / GetReal 资本与人才壁垒深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473699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8888" y="473699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避开红海，切合规即服务 + 摄影 niche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19" y="384048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19" y="3840480"/>
            <a:ext cx="3520440" cy="457200"/>
          </a:xfrm>
          <a:prstGeom prst="roundRect">
            <a:avLst>
              <a:gd name="adj" fmla="val 14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1311" y="3913632"/>
            <a:ext cx="3246120" cy="3291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跨境数据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7888" y="4443984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2208" y="4443984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用户图片传 Sightengine（境外处理）需关注合规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7888" y="4736998"/>
            <a:ext cx="219456" cy="2519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60" b="1" i="0">
                <a:solidFill>
                  <a:srgbClr val="378ADD"/>
                </a:solidFill>
                <a:latin typeface="Microsoft YaHei"/>
              </a:rPr>
              <a:t>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22208" y="4736998"/>
            <a:ext cx="28346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160" b="0" i="0">
                <a:solidFill>
                  <a:srgbClr val="1B2838"/>
                </a:solidFill>
                <a:latin typeface="Microsoft YaHei"/>
              </a:rPr>
              <a:t>临港有数据跨境绿色通道可用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828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7000" b="1" i="0">
                <a:solidFill>
                  <a:srgbClr val="1C4E86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42900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FFFFFF"/>
                </a:solidFill>
                <a:latin typeface="Microsoft YaHei"/>
              </a:rPr>
              <a:t>未来与行动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1605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BC0F8"/>
                </a:solidFill>
                <a:latin typeface="Microsoft YaHei"/>
              </a:rPr>
              <a:t>Future &amp; Action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92040"/>
            <a:ext cx="1828800" cy="4572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未来方向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92224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1. 摄影 GTM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9424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比赛防伪 / 原创性证明；PRNU 相机指纹作差异化护城河，属「证明真」软性证明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645920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43400" y="1645920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792224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2. 临港政策申领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49424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申请 OPC「超级个体」认定，申领 15% 税惠 + Sightengine API 费用补贴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45920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46719" y="1645920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92224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3. Layer B 收单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49424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接入微信/支付宝真实收单，把模拟收银台换成真钱闭环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22192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822192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968496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4. C2PA 合规即服务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25696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中文 + AI 检测混合验证 API，帮平台/出海企业满足标识办法 + EU AI 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822192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343400" y="3822192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968496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5. 自研检测器对冲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425696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频域(DCT/FFT)等方法作战略对冲，长期降低对 Sightengine 依赖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3822192"/>
            <a:ext cx="3520440" cy="201168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19" y="3822192"/>
            <a:ext cx="109728" cy="2011680"/>
          </a:xfrm>
          <a:prstGeom prst="roundRect">
            <a:avLst>
              <a:gd name="adj" fmla="val 33333"/>
            </a:avLst>
          </a:prstGeom>
          <a:solidFill>
            <a:srgbClr val="5BC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968496"/>
            <a:ext cx="30632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6. 定位升级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425696"/>
            <a:ext cx="30175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4000"/>
              </a:lnSpc>
            </a:pPr>
            <a:r>
              <a:rPr sz="1180" b="0" i="0">
                <a:solidFill>
                  <a:srgbClr val="5B6B7E"/>
                </a:solidFill>
                <a:latin typeface="Microsoft YaHei"/>
              </a:rPr>
              <a:t>从「AI 假图检测器」升级为「内容真实性核验器」双支柱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战略落点：商业模式升级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FBEEEC"/>
          </a:solidFill>
          <a:ln w="12700">
            <a:solidFill>
              <a:srgbClr val="F1C9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392B"/>
                </a:solidFill>
                <a:latin typeface="Microsoft YaHei"/>
              </a:rPr>
              <a:t>之前 · 单一定位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「AI 假图检测器」
靠单点检测赢，但生成模型持续进步，“检测假”是必输的仗。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60020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E7F3EC"/>
          </a:solidFill>
          <a:ln w="12700">
            <a:solidFill>
              <a:srgbClr val="BFE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E8E5A"/>
                </a:solidFill>
                <a:latin typeface="Microsoft YaHei"/>
              </a:rPr>
              <a:t>升级 · 双支柱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48840"/>
            <a:ext cx="48463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B2838"/>
                </a:solidFill>
                <a:latin typeface="Microsoft YaHei"/>
              </a:rPr>
              <a:t>「内容真实性核验器」
检测假（抓 AI）+ 验证真（C2PA 证真），在源头确权。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185FA5"/>
                </a:solidFill>
                <a:latin typeface="Microsoft YaHei"/>
              </a:rPr>
              <a:t>三不碰（边界纪律）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392B"/>
                </a:solidFill>
                <a:latin typeface="Microsoft YaHe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不碰司法鉴定资质红线（许可 + CNAS + 鉴定人），用「证明真」绕开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19168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392B"/>
                </a:solidFill>
                <a:latin typeface="Microsoft YaHe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19168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不自己当 CA / 签发端（证书基建重、合规重、被大厂垄断）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32096"/>
            <a:ext cx="219456" cy="2768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C0392B"/>
                </a:solidFill>
                <a:latin typeface="Microsoft YaHe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32096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不正面刚通用企业反欺诈红海（Reality Defender / GetReal 资本壁垒）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85FA5"/>
                </a:solidFill>
                <a:latin typeface="Microsoft YaHei"/>
              </a:rPr>
              <a:t>价值主张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42432"/>
            <a:ext cx="1060704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B2838"/>
                </a:solidFill>
                <a:latin typeface="Microsoft YaHei"/>
              </a:rPr>
              <a:t>“我们帮你证明这份内容是否可信，并满足合规要求”——检测假 + 验证真，做内容真实性基础设施而非单一工具。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84048"/>
            <a:ext cx="118872" cy="384048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329184"/>
            <a:ext cx="8229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C0F8"/>
                </a:solidFill>
                <a:latin typeface="Microsoft YaHei"/>
              </a:rPr>
              <a:t>ACTION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85216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FFFFF"/>
                </a:solidFill>
                <a:latin typeface="Microsoft YaHei"/>
              </a:rPr>
              <a:t>行动建议 / Roadmap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327648"/>
            <a:ext cx="11277295" cy="0"/>
          </a:xfrm>
          <a:prstGeom prst="bentConnector3">
            <a:avLst/>
          </a:prstGeom>
          <a:ln w="9525">
            <a:solidFill>
              <a:srgbClr val="D7E3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00800"/>
            <a:ext cx="731520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TrueLens · 董事会汇报 · 机密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400800"/>
            <a:ext cx="8229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B6B7E"/>
                </a:solidFill>
                <a:latin typeface="Microsoft YaHe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45920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20240"/>
            <a:ext cx="1143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764792"/>
            <a:ext cx="32918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上线与政策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1764792"/>
            <a:ext cx="6035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git push v0.6.9；向临港管委会咨询 OPC 认定 + 15% 税惠 + Sightengine 补贴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0048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670048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C77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44368"/>
            <a:ext cx="1143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788920"/>
            <a:ext cx="32918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真实收单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788920"/>
            <a:ext cx="6035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拿微信/支付宝企业商户号 + ICP 备案，接入 Layer B 替换模拟收银台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94176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3694176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68496"/>
            <a:ext cx="1143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P2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813048"/>
            <a:ext cx="32918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摄影 GTM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813048"/>
            <a:ext cx="6035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比赛防伪落地页 + 白皮书；用 PRNU 相机指纹建立护城河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18304"/>
            <a:ext cx="10972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718304"/>
            <a:ext cx="1143000" cy="914400"/>
          </a:xfrm>
          <a:prstGeom prst="roundRect">
            <a:avLst>
              <a:gd name="adj" fmla="val 6000"/>
            </a:avLst>
          </a:prstGeom>
          <a:solidFill>
            <a:srgbClr val="5B6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992624"/>
            <a:ext cx="11430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P3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837176"/>
            <a:ext cx="32918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B2838"/>
                </a:solidFill>
                <a:latin typeface="Microsoft YaHei"/>
              </a:rPr>
              <a:t>合规即服务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837176"/>
            <a:ext cx="603504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B6B7E"/>
                </a:solidFill>
                <a:latin typeface="Microsoft YaHei"/>
              </a:rPr>
              <a:t>C2PA 验证端强化 → 合规 API；评估自研检测器作战略对冲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011680"/>
            <a:ext cx="1828800" cy="54864"/>
          </a:xfrm>
          <a:prstGeom prst="rect">
            <a:avLst/>
          </a:prstGeom>
          <a:solidFill>
            <a:srgbClr val="378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100584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83280"/>
            <a:ext cx="10058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DCE9F7"/>
                </a:solidFill>
                <a:latin typeface="Microsoft YaHei"/>
              </a:rPr>
              <a:t>以真实性为锚，做内容可信的基础设施。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297680"/>
            <a:ext cx="10058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A9C2DE"/>
                </a:solidFill>
                <a:latin typeface="Microsoft YaHei"/>
              </a:rPr>
              <a:t>下一步：把 v0.6.9 推上线，启动临港政策申领，并按 P0→P3 顺序推进真实收单与垂直 GTM。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5212080"/>
            <a:ext cx="10058400" cy="45720"/>
          </a:xfrm>
          <a:prstGeom prst="rect">
            <a:avLst/>
          </a:prstGeom>
          <a:solidFill>
            <a:srgbClr val="1C4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8FB0D4"/>
                </a:solidFill>
                <a:latin typeface="Microsoft YaHei"/>
              </a:rPr>
              <a:t>TrueLens  ·  truelens.top  ·  Michael &amp; 小毕  ·  2026.07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